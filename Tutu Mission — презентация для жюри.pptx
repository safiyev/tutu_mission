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6fa6f2df545a1" /><Relationship Type="http://schemas.openxmlformats.org/officeDocument/2006/relationships/extended-properties" Target="/docProps/app.xml" Id="Rfc9fbbe830984c4e" /><Relationship Type="http://schemas.openxmlformats.org/officeDocument/2006/relationships/officeDocument" Target="/ppt/presentation.xml" Id="R845835fad4a34d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00615931245f7"/>
  </p:sldMasterIdLst>
  <p:notesMasterIdLst>
    <p:notesMasterId xmlns:r="http://schemas.openxmlformats.org/officeDocument/2006/relationships" r:id="Rd4f44dbda16847d0"/>
  </p:notesMasterIdLst>
  <p:sldIdLst>
    <p:sldId xmlns:r="http://schemas.openxmlformats.org/officeDocument/2006/relationships" id="256" r:id="Re24fd7a455994e7e"/>
    <p:sldId xmlns:r="http://schemas.openxmlformats.org/officeDocument/2006/relationships" id="257" r:id="R1fd599815210438f"/>
    <p:sldId xmlns:r="http://schemas.openxmlformats.org/officeDocument/2006/relationships" id="258" r:id="R5a6862f3ab984e2e"/>
    <p:sldId xmlns:r="http://schemas.openxmlformats.org/officeDocument/2006/relationships" id="259" r:id="R47b498f62ff74a07"/>
    <p:sldId xmlns:r="http://schemas.openxmlformats.org/officeDocument/2006/relationships" id="260" r:id="Rf5eed5b540d74c84"/>
    <p:sldId xmlns:r="http://schemas.openxmlformats.org/officeDocument/2006/relationships" id="261" r:id="R32f5e0df090d4abf"/>
    <p:sldId xmlns:r="http://schemas.openxmlformats.org/officeDocument/2006/relationships" id="262" r:id="R4482a60d26084360"/>
    <p:sldId xmlns:r="http://schemas.openxmlformats.org/officeDocument/2006/relationships" id="263" r:id="Rd00463d556e544fe"/>
    <p:sldId xmlns:r="http://schemas.openxmlformats.org/officeDocument/2006/relationships" id="264" r:id="R560de97b54e74a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02541b7904e39" /><Relationship Type="http://schemas.openxmlformats.org/officeDocument/2006/relationships/slideMaster" Target="/ppt/slideMasters/slideMaster1.xml" Id="R33900615931245f7" /><Relationship Type="http://schemas.openxmlformats.org/officeDocument/2006/relationships/notesMaster" Target="/ppt/notesMasters/notesMaster1.xml" Id="Rd4f44dbda16847d0" /><Relationship Type="http://schemas.openxmlformats.org/officeDocument/2006/relationships/presProps" Target="/ppt/presProps.xml" Id="R793cf2a863d5436f" /><Relationship Type="http://schemas.openxmlformats.org/officeDocument/2006/relationships/tableStyles" Target="/ppt/tableStyles.xml" Id="Rfd1ccf4701494049" /><Relationship Type="http://schemas.openxmlformats.org/officeDocument/2006/relationships/slide" Target="/ppt/slides/slide1.xml" Id="Re24fd7a455994e7e" /><Relationship Type="http://schemas.openxmlformats.org/officeDocument/2006/relationships/slide" Target="/ppt/slides/slide2.xml" Id="R1fd599815210438f" /><Relationship Type="http://schemas.openxmlformats.org/officeDocument/2006/relationships/slide" Target="/ppt/slides/slide3.xml" Id="R5a6862f3ab984e2e" /><Relationship Type="http://schemas.openxmlformats.org/officeDocument/2006/relationships/slide" Target="/ppt/slides/slide4.xml" Id="R47b498f62ff74a07" /><Relationship Type="http://schemas.openxmlformats.org/officeDocument/2006/relationships/slide" Target="/ppt/slides/slide5.xml" Id="Rf5eed5b540d74c84" /><Relationship Type="http://schemas.openxmlformats.org/officeDocument/2006/relationships/slide" Target="/ppt/slides/slide6.xml" Id="R32f5e0df090d4abf" /><Relationship Type="http://schemas.openxmlformats.org/officeDocument/2006/relationships/slide" Target="/ppt/slides/slide7.xml" Id="R4482a60d26084360" /><Relationship Type="http://schemas.openxmlformats.org/officeDocument/2006/relationships/slide" Target="/ppt/slides/slide8.xml" Id="Rd00463d556e544fe" /><Relationship Type="http://schemas.openxmlformats.org/officeDocument/2006/relationships/slide" Target="/ppt/slides/slide9.xml" Id="R560de97b54e74a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1eeb7cb69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fb1a942624953" /><Relationship Type="http://schemas.openxmlformats.org/officeDocument/2006/relationships/notesMaster" Target="/ppt/notesMasters/notesMaster1.xml" Id="R5abdac34b53c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233b53b394f99" /><Relationship Type="http://schemas.openxmlformats.org/officeDocument/2006/relationships/notesMaster" Target="/ppt/notesMasters/notesMaster1.xml" Id="R712292167a7449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9d6c974944a8b" /><Relationship Type="http://schemas.openxmlformats.org/officeDocument/2006/relationships/notesMaster" Target="/ppt/notesMasters/notesMaster1.xml" Id="R9dd388f32d8743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6525b55cf84b8b" /><Relationship Type="http://schemas.openxmlformats.org/officeDocument/2006/relationships/notesMaster" Target="/ppt/notesMasters/notesMaster1.xml" Id="R1154917e7c6f44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c6d54d6134aa2" /><Relationship Type="http://schemas.openxmlformats.org/officeDocument/2006/relationships/notesMaster" Target="/ppt/notesMasters/notesMaster1.xml" Id="Re84fd4bdeed948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57e158dd844b65" /><Relationship Type="http://schemas.openxmlformats.org/officeDocument/2006/relationships/notesMaster" Target="/ppt/notesMasters/notesMaster1.xml" Id="Rba6569fb488649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8681e885040e1" /><Relationship Type="http://schemas.openxmlformats.org/officeDocument/2006/relationships/notesMaster" Target="/ppt/notesMasters/notesMaster1.xml" Id="Rb4dc22bf6c6d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5cacb306124cb3" /><Relationship Type="http://schemas.openxmlformats.org/officeDocument/2006/relationships/notesMaster" Target="/ppt/notesMasters/notesMaster1.xml" Id="R28dca8a1e8aa43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259efe0dae4db7" /><Relationship Type="http://schemas.openxmlformats.org/officeDocument/2006/relationships/notesMaster" Target="/ppt/notesMasters/notesMaster1.xml" Id="R72092e9f87a14c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одного предложения: мы не предлагаем пользователю сравнивать билеты — мы берём ответственность за выполнимость всей поездки.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https://hackathon2026.tutu.ru/</a:t>
            </a:r>
          </a:p>
          <a:p xmlns:a="http://schemas.openxmlformats.org/drawingml/2006/main">
            <a:r>
              <a:t>- Локальный Tutu Mission, живой результат от 14.08.2026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Создайте контраст: агрегатор даёт варианты, а Туту Миссия даёт решение с доказательством. Это и есть соответствие теме реальных задач путешественников.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https://hackathon2026.tutu.ru/ — задание: проект на основе МСР для реальных задач путешественников</a:t>
            </a:r>
          </a:p>
          <a:p xmlns:a="http://schemas.openxmlformats.org/drawingml/2006/main">
            <a:r>
              <a:t>- README.md проекта Tutu Mission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главный технический тезис. Покажите границу доверия: модель только извлекает смысл; победителя выбирает чистая функция, а другой модуль повторно проверяет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разделы «Почему это не обычный AI Trip Planner», «Solver», «Verifier»</a:t>
            </a:r>
          </a:p>
          <a:p xmlns:a="http://schemas.openxmlformats.org/drawingml/2006/main">
            <a:r>
              <a:t>- src/lib/mission/parser.ts, solver.ts, scoring.ts, verifier.ts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Перейдите в живое демо. Вставьте подготовленный запрос. На экране решения проговорите, что счётчики приходят из текущего ответа. Затем покажите один маршрут и зелёный блок независимой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Tutu Mission, живой сценарий от 14.08.2026</a:t>
            </a:r>
          </a:p>
          <a:p xmlns:a="http://schemas.openxmlformats.org/drawingml/2006/main">
            <a:r>
              <a:t>- https://mcp.tutu.ru/mcp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Уменьшите бюджет до 500 рублей. Важно: число 3 600 — реальные комбинации текущей выдачи; +4 847 рублей вычислено алгоритмом, а не написано моделью.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Tutu Mission, Impossible Mission от 14.08.2026</a:t>
            </a:r>
          </a:p>
          <a:p xmlns:a="http://schemas.openxmlformats.org/drawingml/2006/main">
            <a:r>
              <a:t>- src/lib/mission/relaxation.ts и verifier.ts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Проведите слева направо. Подчеркните адаптер: сырые ответы Туту нормализуются. Затем укажите две независимые стадии — решатель и проверяющий.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Mermaid architecture diagram</a:t>
            </a:r>
          </a:p>
          <a:p xmlns:a="http://schemas.openxmlformats.org/drawingml/2006/main">
            <a:r>
              <a:t>- src/lib/mission/ports.ts, orchestrator.ts, solver.ts, verifier.ts</a:t>
            </a:r>
          </a:p>
          <a:p xmlns:a="http://schemas.openxmlformats.org/drawingml/2006/main">
            <a:r>
              <a:t>- src/lib/tutu/client.ts и provider.ts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не перечисляйте код — покажите измеримые гарантии. Отдельно скажите, что технический сбой не маскируется под невозможную поездку.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Локальный npm test от 14.08.2026 — 70 passed, 1 skipped</a:t>
            </a:r>
          </a:p>
          <a:p xmlns:a="http://schemas.openxmlformats.org/drawingml/2006/main">
            <a:r>
              <a:t>- Локальный npm run build от 14.08.2026 — compiled successfully</a:t>
            </a:r>
          </a:p>
          <a:p xmlns:a="http://schemas.openxmlformats.org/drawingml/2006/main">
            <a:r>
              <a:t>- README.md — Stability design</a:t>
            </a:r>
          </a:p>
          <a:p xmlns:a="http://schemas.openxmlformats.org/drawingml/2006/main">
            <a:r>
              <a:t>- src/lib/tutu/client.ts и src/features/mission/model/use-mission-controller.ts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Используйте этот слайд как контрольный список прямо перед финалом. Быстро привяжите каждый блок к уже показанному экрану или техническому доказательству.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https://hackathon2026.tutu.ru/ — критерии оценки, всего 100 баллов</a:t>
            </a:r>
          </a:p>
          <a:p xmlns:a="http://schemas.openxmlformats.org/drawingml/2006/main">
            <a:r>
              <a:t>- README.md — Checklist критериев хакатона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Закройте тем же обещанием, с которого начали. Затем предложите судьям изменить город, время, бюджет или транспорт и запустить собственную миссию.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https://hackathon2026.tutu.ru/</a:t>
            </a:r>
          </a:p>
          <a:p xmlns:a="http://schemas.openxmlformats.org/drawingml/2006/main">
            <a:r>
              <a:t>- https://mcp.tutu.ru/mcp</a:t>
            </a:r>
          </a:p>
          <a:p xmlns:a="http://schemas.openxmlformats.org/drawingml/2006/main">
            <a:r>
              <a:t>- Локальный Tutu Mission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f8f7e9733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6cfc3164141b4" /><Relationship Type="http://schemas.openxmlformats.org/officeDocument/2006/relationships/slideLayout" Target="/ppt/slideLayouts/slideLayout1.xml" Id="Re58f74df1bb74c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f74df1bb74c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a2329a6c04651" /><Relationship Type="http://schemas.openxmlformats.org/officeDocument/2006/relationships/hyperlink" Target="http://localhost:3000/" TargetMode="External" Id="Rca6c607501f34f08" /><Relationship Type="http://schemas.openxmlformats.org/officeDocument/2006/relationships/image" Target="/ppt/media/image.jpeg" Id="Ra78f150b13214eb5" /><Relationship Type="http://schemas.openxmlformats.org/officeDocument/2006/relationships/notesSlide" Target="/ppt/notesSlides/notesSlide1.xml" Id="Raea00c9397084d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66d8c2ecd4515" /><Relationship Type="http://schemas.openxmlformats.org/officeDocument/2006/relationships/notesSlide" Target="/ppt/notesSlides/notesSlide2.xml" Id="R86b90e72e638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428138a4a4028" /><Relationship Type="http://schemas.openxmlformats.org/officeDocument/2006/relationships/notesSlide" Target="/ppt/notesSlides/notesSlide3.xml" Id="R54ee3a874b19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176e4d019425b" /><Relationship Type="http://schemas.openxmlformats.org/officeDocument/2006/relationships/image" Target="/ppt/media/image2.jpeg" Id="R53d2e015d23a4b7f" /><Relationship Type="http://schemas.openxmlformats.org/officeDocument/2006/relationships/hyperlink" Target="http://localhost:3000/" TargetMode="External" Id="R8e82bbd1a1e44be4" /><Relationship Type="http://schemas.openxmlformats.org/officeDocument/2006/relationships/notesSlide" Target="/ppt/notesSlides/notesSlide4.xml" Id="R86dc1869b527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9542b2273471f" /><Relationship Type="http://schemas.openxmlformats.org/officeDocument/2006/relationships/image" Target="/ppt/media/image3.jpeg" Id="R65f11fe8b3374c37" /><Relationship Type="http://schemas.openxmlformats.org/officeDocument/2006/relationships/notesSlide" Target="/ppt/notesSlides/notesSlide5.xml" Id="Ref34a252ac0b48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e168769b44550" /><Relationship Type="http://schemas.openxmlformats.org/officeDocument/2006/relationships/notesSlide" Target="/ppt/notesSlides/notesSlide6.xml" Id="R1613154f1549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a6464652f403b" /><Relationship Type="http://schemas.openxmlformats.org/officeDocument/2006/relationships/notesSlide" Target="/ppt/notesSlides/notesSlide7.xml" Id="R3ad4d02b466543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fba6c40984cca" /><Relationship Type="http://schemas.openxmlformats.org/officeDocument/2006/relationships/notesSlide" Target="/ppt/notesSlides/notesSlide8.xml" Id="R615922bcc7944e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1c065003542fc" /><Relationship Type="http://schemas.openxmlformats.org/officeDocument/2006/relationships/hyperlink" Target="http://localhost:3000/" TargetMode="External" Id="R2770f1c52be645a3" /><Relationship Type="http://schemas.openxmlformats.org/officeDocument/2006/relationships/hyperlink" Target="https://mcp.tutu.ru/mcp" TargetMode="External" Id="Rf7c5c35d48734fea" /><Relationship Type="http://schemas.openxmlformats.org/officeDocument/2006/relationships/notesSlide" Target="/ppt/notesSlides/notesSlide9.xml" Id="Rffa74d1ba03344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1">
            <a:extLst xmlns:a="http://schemas.openxmlformats.org/drawingml/2006/main">
              <a:ext uri="{FF2B5EF4-FFF2-40B4-BE49-F238E27FC236}">
                <a16:creationId xmlns:a16="http://schemas.microsoft.com/office/drawing/2014/main" id="{E57DCAF3-A5C0-4641-9B63-65E02616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5A04A243-96F2-42FC-8BA1-A4019BD6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CC0E70E-FD29-4C72-ABF2-6E3C1C4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ПРОЕКТ ДЛЯ ИИ-ХАКАТОНА ТУТУ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BE065F-4BF7-48BC-AE08-FBD5C6D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22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Путешествие</a:t>
            </a:r>
          </a:p>
          <a:p xmlns:a="http://schemas.openxmlformats.org/drawingml/2006/main">
            <a:pPr algn="l">
              <a:defRPr sz="54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как задача,</a:t>
            </a:r>
          </a:p>
          <a:p xmlns:a="http://schemas.openxmlformats.org/drawingml/2006/main">
            <a:pPr algn="l">
              <a:defRPr sz="54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а не поиск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6972429-EFA0-409E-A085-8616717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95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Туту Миссия понимает цель, находит реальные варианты и программно доказывает, что план выполним.</a:t>
            </a:r>
          </a:p>
        </p:txBody>
      </p:sp>
      <p:sp>
        <p:nvSpPr>
          <p:cNvPr id="6" name="cover-demo-bg">
            <a:extLst xmlns:a="http://schemas.openxmlformats.org/drawingml/2006/main">
              <a:ext uri="{FF2B5EF4-FFF2-40B4-BE49-F238E27FC236}">
                <a16:creationId xmlns:a16="http://schemas.microsoft.com/office/drawing/2014/main" id="{074C2C3B-C010-41DD-A6D5-9B8C7BF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3048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demo">
            <a:extLst xmlns:a="http://schemas.openxmlformats.org/drawingml/2006/main">
              <a:ext uri="{FF2B5EF4-FFF2-40B4-BE49-F238E27FC236}">
                <a16:creationId xmlns:a16="http://schemas.microsoft.com/office/drawing/2014/main" id="{0B61611B-E700-4FCD-9ED4-5D262A9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ca6c607501f34f08"/>
              </a:rPr>
              <a:t>Открыть живое демо  ↗</a:t>
            </a:r>
          </a:p>
        </p:txBody>
      </p:sp>
      <p:sp>
        <p:nvSpPr>
          <p:cNvPr id="8" name="cover-image-back">
            <a:extLst xmlns:a="http://schemas.openxmlformats.org/drawingml/2006/main">
              <a:ext uri="{FF2B5EF4-FFF2-40B4-BE49-F238E27FC236}">
                <a16:creationId xmlns:a16="http://schemas.microsoft.com/office/drawing/2014/main" id="{FA8091FF-4CE8-4BF6-A338-B429D3D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895350"/>
            <a:ext cx="5762625" cy="5334000"/>
          </a:xfrm>
          <a:prstGeom xmlns:a="http://schemas.openxmlformats.org/drawingml/2006/main" prst="roundRect">
            <a:avLst>
              <a:gd name="adj" fmla="val 3929"/>
            </a:avLst>
          </a:prstGeom>
          <a:solidFill xmlns:a="http://schemas.openxmlformats.org/drawingml/2006/main">
            <a:srgbClr val="2720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f150b13214eb5"/>
          <a:stretch xmlns:a="http://schemas.openxmlformats.org/drawingml/2006/main"/>
        </p:blipFill>
        <p:spPr>
          <a:xfrm xmlns:a="http://schemas.openxmlformats.org/drawingml/2006/main">
            <a:off x="6219825" y="1478849"/>
            <a:ext cx="5381625" cy="4167001"/>
          </a:xfrm>
          <a:prstGeom xmlns:a="http://schemas.openxmlformats.org/drawingml/2006/main" prst="roundRect">
            <a:avLst>
              <a:gd name="adj" fmla="val 3462"/>
            </a:avLst>
          </a:prstGeom>
        </p:spPr>
      </p:pic>
    </p:spTree>
    <p:extLst>
      <p:ext uri="{BB962C8B-B14F-4D97-AF65-F5344CB8AC3E}">
        <p14:creationId xmlns:p14="http://schemas.microsoft.com/office/powerpoint/2010/main" val="652823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2">
            <a:extLst xmlns:a="http://schemas.openxmlformats.org/drawingml/2006/main">
              <a:ext uri="{FF2B5EF4-FFF2-40B4-BE49-F238E27FC236}">
                <a16:creationId xmlns:a16="http://schemas.microsoft.com/office/drawing/2014/main" id="{69614FC0-37C1-4A32-9033-B480AF5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A0E87F8E-5ABD-4354-9227-7BD04C01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3" name="kicker-2">
            <a:extLst xmlns:a="http://schemas.openxmlformats.org/drawingml/2006/main">
              <a:ext uri="{FF2B5EF4-FFF2-40B4-BE49-F238E27FC236}">
                <a16:creationId xmlns:a16="http://schemas.microsoft.com/office/drawing/2014/main" id="{48D28D5E-087D-4B0F-9794-06ED4BBC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814249DB-971A-4066-85D1-AFD6392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5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Сегодня пользователь сам решает задачу за агрегатор</a:t>
            </a:r>
          </a:p>
        </p:txBody>
      </p:sp>
      <p:sp>
        <p:nvSpPr>
          <p:cNvPr id="5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3B8BCC4D-F170-40D2-926C-5C24D5E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D3"/>
            </a:solidFill>
            <a:prstDash val="solid"/>
          </a:ln>
        </p:spPr>
      </p:sp>
      <p:sp>
        <p:nvSpPr>
          <p:cNvPr id="6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8BF85EED-398B-4541-B31C-9929D13E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eft-title">
            <a:extLst xmlns:a="http://schemas.openxmlformats.org/drawingml/2006/main">
              <a:ext uri="{FF2B5EF4-FFF2-40B4-BE49-F238E27FC236}">
                <a16:creationId xmlns:a16="http://schemas.microsoft.com/office/drawing/2014/main" id="{D603AD57-75EE-43EA-AE93-8C985670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Обычный поиск</a:t>
            </a:r>
          </a:p>
        </p:txBody>
      </p:sp>
      <p:sp>
        <p:nvSpPr>
          <p:cNvPr id="8" name="p1-mark">
            <a:extLst xmlns:a="http://schemas.openxmlformats.org/drawingml/2006/main">
              <a:ext uri="{FF2B5EF4-FFF2-40B4-BE49-F238E27FC236}">
                <a16:creationId xmlns:a16="http://schemas.microsoft.com/office/drawing/2014/main" id="{463CFB64-5F7B-4428-AC00-AB2A8004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64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9" name="p1-lead">
            <a:extLst xmlns:a="http://schemas.openxmlformats.org/drawingml/2006/main">
              <a:ext uri="{FF2B5EF4-FFF2-40B4-BE49-F238E27FC236}">
                <a16:creationId xmlns:a16="http://schemas.microsoft.com/office/drawing/2014/main" id="{257002BC-7518-4A4F-83D2-931E123F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Десятки карточек</a:t>
            </a:r>
          </a:p>
        </p:txBody>
      </p:sp>
      <p:sp>
        <p:nvSpPr>
          <p:cNvPr id="10" name="p1-body">
            <a:extLst xmlns:a="http://schemas.openxmlformats.org/drawingml/2006/main">
              <a:ext uri="{FF2B5EF4-FFF2-40B4-BE49-F238E27FC236}">
                <a16:creationId xmlns:a16="http://schemas.microsoft.com/office/drawing/2014/main" id="{A469C8DB-2F64-422A-A612-8109D416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Пользователь сравнивает цену, время и пересадки вручную.</a:t>
            </a:r>
          </a:p>
        </p:txBody>
      </p:sp>
      <p:sp>
        <p:nvSpPr>
          <p:cNvPr id="11" name="p2-mark">
            <a:extLst xmlns:a="http://schemas.openxmlformats.org/drawingml/2006/main">
              <a:ext uri="{FF2B5EF4-FFF2-40B4-BE49-F238E27FC236}">
                <a16:creationId xmlns:a16="http://schemas.microsoft.com/office/drawing/2014/main" id="{5FFE1AB4-BBA3-4E6C-8717-D488398C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64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p2-lead">
            <a:extLst xmlns:a="http://schemas.openxmlformats.org/drawingml/2006/main">
              <a:ext uri="{FF2B5EF4-FFF2-40B4-BE49-F238E27FC236}">
                <a16:creationId xmlns:a16="http://schemas.microsoft.com/office/drawing/2014/main" id="{43A55319-DC10-4C4C-803E-C58EB0EA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Условия живут в голове</a:t>
            </a:r>
          </a:p>
        </p:txBody>
      </p:sp>
      <p:sp>
        <p:nvSpPr>
          <p:cNvPr id="13" name="p2-body">
            <a:extLst xmlns:a="http://schemas.openxmlformats.org/drawingml/2006/main">
              <a:ext uri="{FF2B5EF4-FFF2-40B4-BE49-F238E27FC236}">
                <a16:creationId xmlns:a16="http://schemas.microsoft.com/office/drawing/2014/main" id="{07834B45-177B-4F04-865C-32A176C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Дедлайн, запас и возврат не образуют проверяемую систему.</a:t>
            </a:r>
          </a:p>
        </p:txBody>
      </p:sp>
      <p:sp>
        <p:nvSpPr>
          <p:cNvPr id="14" name="p3-mark">
            <a:extLst xmlns:a="http://schemas.openxmlformats.org/drawingml/2006/main">
              <a:ext uri="{FF2B5EF4-FFF2-40B4-BE49-F238E27FC236}">
                <a16:creationId xmlns:a16="http://schemas.microsoft.com/office/drawing/2014/main" id="{D6DBA99C-D04C-43CD-B587-3EB5C5DD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64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5" name="p3-lead">
            <a:extLst xmlns:a="http://schemas.openxmlformats.org/drawingml/2006/main">
              <a:ext uri="{FF2B5EF4-FFF2-40B4-BE49-F238E27FC236}">
                <a16:creationId xmlns:a16="http://schemas.microsoft.com/office/drawing/2014/main" id="{07B57F7C-C0F2-4E1F-AC90-14CFA54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Риск остаётся у человека</a:t>
            </a:r>
          </a:p>
        </p:txBody>
      </p:sp>
      <p:sp>
        <p:nvSpPr>
          <p:cNvPr id="16" name="p3-body">
            <a:extLst xmlns:a="http://schemas.openxmlformats.org/drawingml/2006/main">
              <a:ext uri="{FF2B5EF4-FFF2-40B4-BE49-F238E27FC236}">
                <a16:creationId xmlns:a16="http://schemas.microsoft.com/office/drawing/2014/main" id="{D4D3C286-9B46-4AE7-91CC-C9C546A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«Подходит» часто означает лишь «похоже на подходящий билет».</a:t>
            </a:r>
          </a:p>
        </p:txBody>
      </p:sp>
      <p:sp>
        <p:nvSpPr>
          <p:cNvPr id="17" name="problem-right-title">
            <a:extLst xmlns:a="http://schemas.openxmlformats.org/drawingml/2006/main">
              <a:ext uri="{FF2B5EF4-FFF2-40B4-BE49-F238E27FC236}">
                <a16:creationId xmlns:a16="http://schemas.microsoft.com/office/drawing/2014/main" id="{7FD694A9-53B2-4849-9743-B8D7CC3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Туту Миссия</a:t>
            </a:r>
          </a:p>
        </p:txBody>
      </p:sp>
      <p:sp>
        <p:nvSpPr>
          <p:cNvPr id="18" name="s1-mark">
            <a:extLst xmlns:a="http://schemas.openxmlformats.org/drawingml/2006/main">
              <a:ext uri="{FF2B5EF4-FFF2-40B4-BE49-F238E27FC236}">
                <a16:creationId xmlns:a16="http://schemas.microsoft.com/office/drawing/2014/main" id="{2C811063-9F10-4129-9E8E-CA233C6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9" name="s1-lead">
            <a:extLst xmlns:a="http://schemas.openxmlformats.org/drawingml/2006/main">
              <a:ext uri="{FF2B5EF4-FFF2-40B4-BE49-F238E27FC236}">
                <a16:creationId xmlns:a16="http://schemas.microsoft.com/office/drawing/2014/main" id="{D360A4D6-5054-47E6-B2EE-C07D83E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запрос</a:t>
            </a:r>
          </a:p>
        </p:txBody>
      </p:sp>
      <p:sp>
        <p:nvSpPr>
          <p:cNvPr id="20" name="s1-body">
            <a:extLst xmlns:a="http://schemas.openxmlformats.org/drawingml/2006/main">
              <a:ext uri="{FF2B5EF4-FFF2-40B4-BE49-F238E27FC236}">
                <a16:creationId xmlns:a16="http://schemas.microsoft.com/office/drawing/2014/main" id="{A2F01B7F-C5D5-4CCA-92B7-8F1A5E0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Пользователь описывает конечную цель естественным языком.</a:t>
            </a:r>
          </a:p>
        </p:txBody>
      </p:sp>
      <p:sp>
        <p:nvSpPr>
          <p:cNvPr id="21" name="s2-mark">
            <a:extLst xmlns:a="http://schemas.openxmlformats.org/drawingml/2006/main">
              <a:ext uri="{FF2B5EF4-FFF2-40B4-BE49-F238E27FC236}">
                <a16:creationId xmlns:a16="http://schemas.microsoft.com/office/drawing/2014/main" id="{5F709AB7-0409-43D8-B9C9-F5131DC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2" name="s2-lead">
            <a:extLst xmlns:a="http://schemas.openxmlformats.org/drawingml/2006/main">
              <a:ext uri="{FF2B5EF4-FFF2-40B4-BE49-F238E27FC236}">
                <a16:creationId xmlns:a16="http://schemas.microsoft.com/office/drawing/2014/main" id="{711A52D2-A176-4835-BCFE-F7C67DF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481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план</a:t>
            </a:r>
          </a:p>
        </p:txBody>
      </p:sp>
      <p:sp>
        <p:nvSpPr>
          <p:cNvPr id="23" name="s2-body">
            <a:extLst xmlns:a="http://schemas.openxmlformats.org/drawingml/2006/main">
              <a:ext uri="{FF2B5EF4-FFF2-40B4-BE49-F238E27FC236}">
                <a16:creationId xmlns:a16="http://schemas.microsoft.com/office/drawing/2014/main" id="{1C156D18-52D6-4283-B969-421B622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Сервис сам собирает транспорт, возврат и проживание.</a:t>
            </a:r>
          </a:p>
        </p:txBody>
      </p:sp>
      <p:sp>
        <p:nvSpPr>
          <p:cNvPr id="24" name="s3-mark">
            <a:extLst xmlns:a="http://schemas.openxmlformats.org/drawingml/2006/main">
              <a:ext uri="{FF2B5EF4-FFF2-40B4-BE49-F238E27FC236}">
                <a16:creationId xmlns:a16="http://schemas.microsoft.com/office/drawing/2014/main" id="{31B8E6BC-1BF0-415A-B4A8-C851BF8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5" name="s3-lead">
            <a:extLst xmlns:a="http://schemas.openxmlformats.org/drawingml/2006/main">
              <a:ext uri="{FF2B5EF4-FFF2-40B4-BE49-F238E27FC236}">
                <a16:creationId xmlns:a16="http://schemas.microsoft.com/office/drawing/2014/main" id="{152F696F-3B98-4AA2-9023-A5EA8BB0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006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Одно доказательство</a:t>
            </a:r>
          </a:p>
        </p:txBody>
      </p:sp>
      <p:sp>
        <p:nvSpPr>
          <p:cNvPr id="26" name="s3-body">
            <a:extLst xmlns:a="http://schemas.openxmlformats.org/drawingml/2006/main">
              <a:ext uri="{FF2B5EF4-FFF2-40B4-BE49-F238E27FC236}">
                <a16:creationId xmlns:a16="http://schemas.microsoft.com/office/drawing/2014/main" id="{78AEE0E0-A370-4A96-8FBC-42C0770C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959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Статус «проверено» появляется только после проверки кодом.</a:t>
            </a:r>
          </a:p>
        </p:txBody>
      </p:sp>
    </p:spTree>
    <p:extLst>
      <p:ext uri="{BB962C8B-B14F-4D97-AF65-F5344CB8AC3E}">
        <p14:creationId xmlns:p14="http://schemas.microsoft.com/office/powerpoint/2010/main" val="463081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3">
            <a:extLst xmlns:a="http://schemas.openxmlformats.org/drawingml/2006/main">
              <a:ext uri="{FF2B5EF4-FFF2-40B4-BE49-F238E27FC236}">
                <a16:creationId xmlns:a16="http://schemas.microsoft.com/office/drawing/2014/main" id="{8DB43A2E-C8B3-41E8-85A9-BE1B1D0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A0B994F4-117F-4190-A566-082C011D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3" name="kicker-3">
            <a:extLst xmlns:a="http://schemas.openxmlformats.org/drawingml/2006/main">
              <a:ext uri="{FF2B5EF4-FFF2-40B4-BE49-F238E27FC236}">
                <a16:creationId xmlns:a16="http://schemas.microsoft.com/office/drawing/2014/main" id="{50579F00-C4B7-4580-8623-2F27882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ПРИНЦИП ПРОДУКТА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FDC5785C-16FC-4C64-A0C9-778033B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Модель понимает. Код принимает решение.</a:t>
            </a:r>
          </a:p>
        </p:txBody>
      </p:sp>
      <p:sp>
        <p:nvSpPr>
          <p:cNvPr id="5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B46BBA6F-8AF7-4240-BC03-A91399B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762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8690FAFB-014E-4BF0-B117-51ACFAB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762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98C547B4-30AF-461C-9262-F804ADD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762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nchor-3">
            <a:extLst xmlns:a="http://schemas.openxmlformats.org/drawingml/2006/main">
              <a:ext uri="{FF2B5EF4-FFF2-40B4-BE49-F238E27FC236}">
                <a16:creationId xmlns:a16="http://schemas.microsoft.com/office/drawing/2014/main" id="{ED3B9C6C-C476-4232-854B-D9B4CA94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762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nchor-4">
            <a:extLst xmlns:a="http://schemas.openxmlformats.org/drawingml/2006/main">
              <a:ext uri="{FF2B5EF4-FFF2-40B4-BE49-F238E27FC236}">
                <a16:creationId xmlns:a16="http://schemas.microsoft.com/office/drawing/2014/main" id="{70BD98FB-3852-4BDD-A5B7-7979F64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62250"/>
            <a:ext cx="1762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76475" y="3619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43425" y="3619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10375" y="3619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77325" y="36195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  <a:tailEnd type="arrow" w="med" len="med"/>
          </a:ln>
        </p:spPr>
      </p:cxnSp>
      <p:sp>
        <p:nvSpPr>
          <p:cNvPr id="14" name="flow-num-0">
            <a:extLst xmlns:a="http://schemas.openxmlformats.org/drawingml/2006/main">
              <a:ext uri="{FF2B5EF4-FFF2-40B4-BE49-F238E27FC236}">
                <a16:creationId xmlns:a16="http://schemas.microsoft.com/office/drawing/2014/main" id="{92382FD4-9E10-4D61-9002-E07292C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flow-head-0">
            <a:extLst xmlns:a="http://schemas.openxmlformats.org/drawingml/2006/main">
              <a:ext uri="{FF2B5EF4-FFF2-40B4-BE49-F238E27FC236}">
                <a16:creationId xmlns:a16="http://schemas.microsoft.com/office/drawing/2014/main" id="{A0CEC771-1B2D-4EE5-814E-5302184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8B204ED5-4F18-456E-A8B1-EAFF5477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Свободный текст</a:t>
            </a:r>
          </a:p>
        </p:txBody>
      </p:sp>
      <p:sp>
        <p:nvSpPr>
          <p:cNvPr id="17" name="flow-num-1">
            <a:extLst xmlns:a="http://schemas.openxmlformats.org/drawingml/2006/main">
              <a:ext uri="{FF2B5EF4-FFF2-40B4-BE49-F238E27FC236}">
                <a16:creationId xmlns:a16="http://schemas.microsoft.com/office/drawing/2014/main" id="{170D56E3-C4BD-4BD6-927C-CB2DEE0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flow-head-1">
            <a:extLst xmlns:a="http://schemas.openxmlformats.org/drawingml/2006/main">
              <a:ext uri="{FF2B5EF4-FFF2-40B4-BE49-F238E27FC236}">
                <a16:creationId xmlns:a16="http://schemas.microsoft.com/office/drawing/2014/main" id="{7E93E84C-30EF-4CBB-BE39-833FF39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90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66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19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84E2016-29B2-444C-8D4B-A5D3D08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766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Дата, бюджет, запреты</a:t>
            </a:r>
          </a:p>
        </p:txBody>
      </p:sp>
      <p:sp>
        <p:nvSpPr>
          <p:cNvPr id="20" name="flow-num-2">
            <a:extLst xmlns:a="http://schemas.openxmlformats.org/drawingml/2006/main">
              <a:ext uri="{FF2B5EF4-FFF2-40B4-BE49-F238E27FC236}">
                <a16:creationId xmlns:a16="http://schemas.microsoft.com/office/drawing/2014/main" id="{2A1A1686-27C2-4764-AE25-DB6F3FF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239DA6B-8F48-465F-B9F0-CAFFFA2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90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7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Данные Туту</a:t>
            </a:r>
          </a:p>
        </p:txBody>
      </p:sp>
      <p:sp>
        <p:nvSpPr>
          <p:cNvPr id="22" name="flow-body-2">
            <a:extLst xmlns:a="http://schemas.openxmlformats.org/drawingml/2006/main">
              <a:ext uri="{FF2B5EF4-FFF2-40B4-BE49-F238E27FC236}">
                <a16:creationId xmlns:a16="http://schemas.microsoft.com/office/drawing/2014/main" id="{2D529B05-8BCA-4908-AC3A-1873B6A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766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Билеты и отели</a:t>
            </a:r>
          </a:p>
        </p:txBody>
      </p:sp>
      <p:sp>
        <p:nvSpPr>
          <p:cNvPr id="23" name="flow-num-3">
            <a:extLst xmlns:a="http://schemas.openxmlformats.org/drawingml/2006/main">
              <a:ext uri="{FF2B5EF4-FFF2-40B4-BE49-F238E27FC236}">
                <a16:creationId xmlns:a16="http://schemas.microsoft.com/office/drawing/2014/main" id="{814F1CE9-B707-470A-99EC-C8868303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flow-head-3">
            <a:extLst xmlns:a="http://schemas.openxmlformats.org/drawingml/2006/main">
              <a:ext uri="{FF2B5EF4-FFF2-40B4-BE49-F238E27FC236}">
                <a16:creationId xmlns:a16="http://schemas.microsoft.com/office/drawing/2014/main" id="{1EF98ECB-A73F-4D92-A3F7-C0B89C3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Решатель</a:t>
            </a:r>
          </a:p>
        </p:txBody>
      </p:sp>
      <p:sp>
        <p:nvSpPr>
          <p:cNvPr id="25" name="flow-body-3">
            <a:extLst xmlns:a="http://schemas.openxmlformats.org/drawingml/2006/main">
              <a:ext uri="{FF2B5EF4-FFF2-40B4-BE49-F238E27FC236}">
                <a16:creationId xmlns:a16="http://schemas.microsoft.com/office/drawing/2014/main" id="{7D867023-BF86-4430-B254-5371F3E6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Фильтры и ранжирование</a:t>
            </a:r>
          </a:p>
        </p:txBody>
      </p:sp>
      <p:sp>
        <p:nvSpPr>
          <p:cNvPr id="26" name="flow-num-4">
            <a:extLst xmlns:a="http://schemas.openxmlformats.org/drawingml/2006/main">
              <a:ext uri="{FF2B5EF4-FFF2-40B4-BE49-F238E27FC236}">
                <a16:creationId xmlns:a16="http://schemas.microsoft.com/office/drawing/2014/main" id="{759767F3-7A94-4021-9DDF-DE071546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flow-head-4">
            <a:extLst xmlns:a="http://schemas.openxmlformats.org/drawingml/2006/main">
              <a:ext uri="{FF2B5EF4-FFF2-40B4-BE49-F238E27FC236}">
                <a16:creationId xmlns:a16="http://schemas.microsoft.com/office/drawing/2014/main" id="{5F8A36F8-CE07-40F7-A237-461F4F15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909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92E2A656-3745-4861-A9A9-EDB4EA1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76675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Независимый вердикт</a:t>
            </a:r>
          </a:p>
        </p:txBody>
      </p:sp>
      <p:sp>
        <p:nvSpPr>
          <p:cNvPr id="29" name="flow-rule">
            <a:extLst xmlns:a="http://schemas.openxmlformats.org/drawingml/2006/main">
              <a:ext uri="{FF2B5EF4-FFF2-40B4-BE49-F238E27FC236}">
                <a16:creationId xmlns:a16="http://schemas.microsoft.com/office/drawing/2014/main" id="{4704EB10-EA75-4831-AB1C-55E8343A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Языковая модель не выбирает победителя и не может поставить статус «проверено».</a:t>
            </a:r>
          </a:p>
        </p:txBody>
      </p:sp>
      <p:sp>
        <p:nvSpPr>
          <p:cNvPr id="30" name="flow-proof">
            <a:extLst xmlns:a="http://schemas.openxmlformats.org/drawingml/2006/main">
              <a:ext uri="{FF2B5EF4-FFF2-40B4-BE49-F238E27FC236}">
                <a16:creationId xmlns:a16="http://schemas.microsoft.com/office/drawing/2014/main" id="{8AE2BC30-4C45-438D-8B00-95FCE276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76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Все математические решения выполняет детерминированное ядро.</a:t>
            </a:r>
          </a:p>
        </p:txBody>
      </p:sp>
    </p:spTree>
    <p:extLst>
      <p:ext uri="{BB962C8B-B14F-4D97-AF65-F5344CB8AC3E}">
        <p14:creationId xmlns:p14="http://schemas.microsoft.com/office/powerpoint/2010/main" val="1018098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4">
            <a:extLst xmlns:a="http://schemas.openxmlformats.org/drawingml/2006/main">
              <a:ext uri="{FF2B5EF4-FFF2-40B4-BE49-F238E27FC236}">
                <a16:creationId xmlns:a16="http://schemas.microsoft.com/office/drawing/2014/main" id="{1A7B85BB-541D-41E7-AD80-26F9B33A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99EBE68B-E75B-44E7-8739-DD5B46D3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3" name="kicker-4">
            <a:extLst xmlns:a="http://schemas.openxmlformats.org/drawingml/2006/main">
              <a:ext uri="{FF2B5EF4-FFF2-40B4-BE49-F238E27FC236}">
                <a16:creationId xmlns:a16="http://schemas.microsoft.com/office/drawing/2014/main" id="{30864BA3-1323-4431-B447-4F5EC087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ЖИВОЙ СЦЕНАРИЙ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5CE7FFA5-8EAD-4E96-82AB-ABAB5633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Один запрос → один проверенный маршрут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2e015d23a4b7f"/>
          <a:srcRect xmlns:a="http://schemas.openxmlformats.org/drawingml/2006/main" l="0" t="12654" r="0" b="126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962150"/>
            <a:ext cx="7477125" cy="4324350"/>
          </a:xfrm>
          <a:prstGeom xmlns:a="http://schemas.openxmlformats.org/drawingml/2006/main" prst="roundRect">
            <a:avLst>
              <a:gd name="adj" fmla="val 3965"/>
            </a:avLst>
          </a:prstGeom>
        </p:spPr>
      </p:pic>
      <p:sp>
        <p:nvSpPr>
          <p:cNvPr id="6" name="demo-price">
            <a:extLst xmlns:a="http://schemas.openxmlformats.org/drawingml/2006/main">
              <a:ext uri="{FF2B5EF4-FFF2-40B4-BE49-F238E27FC236}">
                <a16:creationId xmlns:a16="http://schemas.microsoft.com/office/drawing/2014/main" id="{C25C3051-0E89-478F-9C9E-8362E55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8 253 ₽</a:t>
            </a:r>
          </a:p>
        </p:txBody>
      </p:sp>
      <p:sp>
        <p:nvSpPr>
          <p:cNvPr id="7" name="demo-price-label">
            <a:extLst xmlns:a="http://schemas.openxmlformats.org/drawingml/2006/main">
              <a:ext uri="{FF2B5EF4-FFF2-40B4-BE49-F238E27FC236}">
                <a16:creationId xmlns:a16="http://schemas.microsoft.com/office/drawing/2014/main" id="{8FF9D6C3-928D-45E5-A8EE-0EC0AAE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вся поездка туда и обратно</a:t>
            </a:r>
          </a:p>
        </p:txBody>
      </p:sp>
      <p:sp>
        <p:nvSpPr>
          <p:cNvPr id="8" name="demo-buffer">
            <a:extLst xmlns:a="http://schemas.openxmlformats.org/drawingml/2006/main">
              <a:ext uri="{FF2B5EF4-FFF2-40B4-BE49-F238E27FC236}">
                <a16:creationId xmlns:a16="http://schemas.microsoft.com/office/drawing/2014/main" id="{E08ED178-02AD-4324-84FA-09ABE1DA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5 ч 15 мин</a:t>
            </a:r>
          </a:p>
        </p:txBody>
      </p:sp>
      <p:sp>
        <p:nvSpPr>
          <p:cNvPr id="9" name="demo-buffer-label">
            <a:extLst xmlns:a="http://schemas.openxmlformats.org/drawingml/2006/main">
              <a:ext uri="{FF2B5EF4-FFF2-40B4-BE49-F238E27FC236}">
                <a16:creationId xmlns:a16="http://schemas.microsoft.com/office/drawing/2014/main" id="{A6EDF6FA-6F78-4EF2-A1CD-F6D8807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6240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запас до события при требовании 2 ч</a:t>
            </a:r>
          </a:p>
        </p:txBody>
      </p:sp>
      <p:sp>
        <p:nvSpPr>
          <p:cNvPr id="10" name="demo-proof">
            <a:extLst xmlns:a="http://schemas.openxmlformats.org/drawingml/2006/main">
              <a:ext uri="{FF2B5EF4-FFF2-40B4-BE49-F238E27FC236}">
                <a16:creationId xmlns:a16="http://schemas.microsoft.com/office/drawing/2014/main" id="{C610C16C-2A6E-4697-B411-DB59D1F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3095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0 пересадок</a:t>
            </a:r>
          </a:p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8 независимых проверок</a:t>
            </a:r>
          </a:p>
          <a:p xmlns:a="http://schemas.openxmlformats.org/drawingml/2006/main">
            <a:pPr algn="l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реальные ссылки Туту</a:t>
            </a:r>
          </a:p>
        </p:txBody>
      </p:sp>
      <p:sp>
        <p:nvSpPr>
          <p:cNvPr id="11" name="demo-open-bg">
            <a:extLst xmlns:a="http://schemas.openxmlformats.org/drawingml/2006/main">
              <a:ext uri="{FF2B5EF4-FFF2-40B4-BE49-F238E27FC236}">
                <a16:creationId xmlns:a16="http://schemas.microsoft.com/office/drawing/2014/main" id="{A37E91AD-6CC3-40AE-A699-271BD58F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91200"/>
            <a:ext cx="2857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mo-open">
            <a:extLst xmlns:a="http://schemas.openxmlformats.org/drawingml/2006/main">
              <a:ext uri="{FF2B5EF4-FFF2-40B4-BE49-F238E27FC236}">
                <a16:creationId xmlns:a16="http://schemas.microsoft.com/office/drawing/2014/main" id="{2F76E060-B13B-4C83-8D94-3FA5B512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8102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e82bbd1a1e44be4"/>
              </a:rPr>
              <a:t>Запустить сценарий  ↗</a:t>
            </a:r>
          </a:p>
        </p:txBody>
      </p:sp>
    </p:spTree>
    <p:extLst>
      <p:ext uri="{BB962C8B-B14F-4D97-AF65-F5344CB8AC3E}">
        <p14:creationId xmlns:p14="http://schemas.microsoft.com/office/powerpoint/2010/main" val="625831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5">
            <a:extLst xmlns:a="http://schemas.openxmlformats.org/drawingml/2006/main">
              <a:ext uri="{FF2B5EF4-FFF2-40B4-BE49-F238E27FC236}">
                <a16:creationId xmlns:a16="http://schemas.microsoft.com/office/drawing/2014/main" id="{70443FD2-2158-4F82-98EF-DA6B087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7CB54D7-52B7-4CD2-B31B-BEFB52D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  <p:sp>
        <p:nvSpPr>
          <p:cNvPr id="3" name="kicker-5">
            <a:extLst xmlns:a="http://schemas.openxmlformats.org/drawingml/2006/main">
              <a:ext uri="{FF2B5EF4-FFF2-40B4-BE49-F238E27FC236}">
                <a16:creationId xmlns:a16="http://schemas.microsoft.com/office/drawing/2014/main" id="{5EDB0C99-A8FA-4C7F-B267-C3051F3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НЕВОЗМОЖНАЯ МИССИЯ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A075334A-E428-471A-9842-19B8192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«Ничего не найдено» — это не ответ</a:t>
            </a:r>
          </a:p>
        </p:txBody>
      </p:sp>
      <p:sp>
        <p:nvSpPr>
          <p:cNvPr id="5" name="impossible-big">
            <a:extLst xmlns:a="http://schemas.openxmlformats.org/drawingml/2006/main">
              <a:ext uri="{FF2B5EF4-FFF2-40B4-BE49-F238E27FC236}">
                <a16:creationId xmlns:a16="http://schemas.microsoft.com/office/drawing/2014/main" id="{1B5AFF12-E585-48A9-ABDE-E55F1E4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3125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3 600</a:t>
            </a:r>
          </a:p>
        </p:txBody>
      </p:sp>
      <p:sp>
        <p:nvSpPr>
          <p:cNvPr id="6" name="impossible-label">
            <a:extLst xmlns:a="http://schemas.openxmlformats.org/drawingml/2006/main">
              <a:ext uri="{FF2B5EF4-FFF2-40B4-BE49-F238E27FC236}">
                <a16:creationId xmlns:a16="http://schemas.microsoft.com/office/drawing/2014/main" id="{CD1650E9-D73F-41D9-A239-B0724CF5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0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комбинаций проверено кодом</a:t>
            </a:r>
          </a:p>
        </p:txBody>
      </p:sp>
      <p:sp>
        <p:nvSpPr>
          <p:cNvPr id="7" name="impossible-copy">
            <a:extLst xmlns:a="http://schemas.openxmlformats.org/drawingml/2006/main">
              <a:ext uri="{FF2B5EF4-FFF2-40B4-BE49-F238E27FC236}">
                <a16:creationId xmlns:a16="http://schemas.microsoft.com/office/drawing/2014/main" id="{FE7523A1-A9CB-427B-A701-36E94C5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623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34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2E"/>
                </a:solidFill>
                <a:latin typeface="Arial"/>
                <a:ea typeface="Arial"/>
                <a:cs typeface="Arial"/>
              </a:rPr>
              <a:t>Если строгого решения нет, алгоритм ищет минимальное изменение условия и снова проверяет появившийся маршрут.</a:t>
            </a:r>
          </a:p>
        </p:txBody>
      </p:sp>
      <p:sp>
        <p:nvSpPr>
          <p:cNvPr id="8" name="impossible-delta">
            <a:extLst xmlns:a="http://schemas.openxmlformats.org/drawingml/2006/main">
              <a:ext uri="{FF2B5EF4-FFF2-40B4-BE49-F238E27FC236}">
                <a16:creationId xmlns:a16="http://schemas.microsoft.com/office/drawing/2014/main" id="{9F7B0321-C0FE-44B3-A595-C69BC46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+4 847 ₽</a:t>
            </a:r>
          </a:p>
        </p:txBody>
      </p:sp>
      <p:sp>
        <p:nvSpPr>
          <p:cNvPr id="9" name="impossible-delta-copy">
            <a:extLst xmlns:a="http://schemas.openxmlformats.org/drawingml/2006/main">
              <a:ext uri="{FF2B5EF4-FFF2-40B4-BE49-F238E27FC236}">
                <a16:creationId xmlns:a16="http://schemas.microsoft.com/office/drawing/2014/main" id="{8B264C6E-F135-40EF-8D30-77A4B04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816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ровно столько нужно добавить к бюджету в этом живом примере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11fe8b3374c37"/>
          <a:srcRect xmlns:a="http://schemas.openxmlformats.org/drawingml/2006/main" l="0" t="3701" r="0" b="3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866900"/>
            <a:ext cx="6057900" cy="43434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1003284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-6">
            <a:extLst xmlns:a="http://schemas.openxmlformats.org/drawingml/2006/main">
              <a:ext uri="{FF2B5EF4-FFF2-40B4-BE49-F238E27FC236}">
                <a16:creationId xmlns:a16="http://schemas.microsoft.com/office/drawing/2014/main" id="{4946C33A-3C5A-4BCE-9856-C35F6787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590C8640-2E06-41A1-87CB-A86D5FF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  <p:sp>
        <p:nvSpPr>
          <p:cNvPr id="3" name="kicker-6">
            <a:extLst xmlns:a="http://schemas.openxmlformats.org/drawingml/2006/main">
              <a:ext uri="{FF2B5EF4-FFF2-40B4-BE49-F238E27FC236}">
                <a16:creationId xmlns:a16="http://schemas.microsoft.com/office/drawing/2014/main" id="{C9C665BF-74D9-457A-BB2C-6852F670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ТЕХНИЧЕСКАЯ ЧАСТЬ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B406D9E9-EA4B-4211-8416-AD0201B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Модель не может подменить проверку</a:t>
            </a:r>
          </a:p>
        </p:txBody>
      </p:sp>
      <p:sp>
        <p:nvSpPr>
          <p:cNvPr id="5" name="arch-ui">
            <a:extLst xmlns:a="http://schemas.openxmlformats.org/drawingml/2006/main">
              <a:ext uri="{FF2B5EF4-FFF2-40B4-BE49-F238E27FC236}">
                <a16:creationId xmlns:a16="http://schemas.microsoft.com/office/drawing/2014/main" id="{B42E27BC-7A18-48D3-A3A2-5BB702B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D3"/>
            </a:solidFill>
            <a:prstDash val="solid"/>
          </a:ln>
        </p:spPr>
      </p:sp>
      <p:sp>
        <p:nvSpPr>
          <p:cNvPr id="6" name="arch-ai">
            <a:extLst xmlns:a="http://schemas.openxmlformats.org/drawingml/2006/main">
              <a:ext uri="{FF2B5EF4-FFF2-40B4-BE49-F238E27FC236}">
                <a16:creationId xmlns:a16="http://schemas.microsoft.com/office/drawing/2014/main" id="{C2D11707-3B07-472B-888B-B0AFB38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33625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tutu">
            <a:extLst xmlns:a="http://schemas.openxmlformats.org/drawingml/2006/main">
              <a:ext uri="{FF2B5EF4-FFF2-40B4-BE49-F238E27FC236}">
                <a16:creationId xmlns:a16="http://schemas.microsoft.com/office/drawing/2014/main" id="{AF7E3ECF-DDE0-410C-8CD8-4E10667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33625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D3"/>
            </a:solidFill>
            <a:prstDash val="solid"/>
          </a:ln>
        </p:spPr>
      </p:sp>
      <p:sp>
        <p:nvSpPr>
          <p:cNvPr id="8" name="arch-core">
            <a:extLst xmlns:a="http://schemas.openxmlformats.org/drawingml/2006/main">
              <a:ext uri="{FF2B5EF4-FFF2-40B4-BE49-F238E27FC236}">
                <a16:creationId xmlns:a16="http://schemas.microsoft.com/office/drawing/2014/main" id="{F7436B76-122E-4C9E-82CE-BBB31EDE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33625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verify">
            <a:extLst xmlns:a="http://schemas.openxmlformats.org/drawingml/2006/main">
              <a:ext uri="{FF2B5EF4-FFF2-40B4-BE49-F238E27FC236}">
                <a16:creationId xmlns:a16="http://schemas.microsoft.com/office/drawing/2014/main" id="{FA224C30-E625-4428-B6D5-3343C66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33625"/>
            <a:ext cx="190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E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19350" y="2914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D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05350" y="2914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D3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91350" y="2914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D3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77350" y="2914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8D3"/>
            </a:solidFill>
            <a:prstDash val="solid"/>
            <a:tailEnd type="arrow" w="med" len="med"/>
          </a:ln>
        </p:spPr>
      </p:cxnSp>
      <p:sp>
        <p:nvSpPr>
          <p:cNvPr id="14" name="arch-h-0">
            <a:extLst xmlns:a="http://schemas.openxmlformats.org/drawingml/2006/main">
              <a:ext uri="{FF2B5EF4-FFF2-40B4-BE49-F238E27FC236}">
                <a16:creationId xmlns:a16="http://schemas.microsoft.com/office/drawing/2014/main" id="{A990A4BA-83F8-441E-B321-A1F7EA4B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5" name="arch-b-0">
            <a:extLst xmlns:a="http://schemas.openxmlformats.org/drawingml/2006/main">
              <a:ext uri="{FF2B5EF4-FFF2-40B4-BE49-F238E27FC236}">
                <a16:creationId xmlns:a16="http://schemas.microsoft.com/office/drawing/2014/main" id="{C7857E90-D9D3-4559-B341-296AE61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9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Запрос и понятный результат</a:t>
            </a:r>
          </a:p>
        </p:txBody>
      </p:sp>
      <p:sp>
        <p:nvSpPr>
          <p:cNvPr id="16" name="arch-h-1">
            <a:extLst xmlns:a="http://schemas.openxmlformats.org/drawingml/2006/main">
              <a:ext uri="{FF2B5EF4-FFF2-40B4-BE49-F238E27FC236}">
                <a16:creationId xmlns:a16="http://schemas.microsoft.com/office/drawing/2014/main" id="{74FC8505-F441-4E22-9FFA-7653EAD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Понимание</a:t>
            </a:r>
          </a:p>
        </p:txBody>
      </p:sp>
      <p:sp>
        <p:nvSpPr>
          <p:cNvPr id="17" name="arch-b-1">
            <a:extLst xmlns:a="http://schemas.openxmlformats.org/drawingml/2006/main">
              <a:ext uri="{FF2B5EF4-FFF2-40B4-BE49-F238E27FC236}">
                <a16:creationId xmlns:a16="http://schemas.microsoft.com/office/drawing/2014/main" id="{4D6C1384-8304-41AF-8C18-2719457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Текст → строгие ограничения</a:t>
            </a:r>
          </a:p>
        </p:txBody>
      </p:sp>
      <p:sp>
        <p:nvSpPr>
          <p:cNvPr id="18" name="arch-h-2">
            <a:extLst xmlns:a="http://schemas.openxmlformats.org/drawingml/2006/main">
              <a:ext uri="{FF2B5EF4-FFF2-40B4-BE49-F238E27FC236}">
                <a16:creationId xmlns:a16="http://schemas.microsoft.com/office/drawing/2014/main" id="{4A2C3968-0B14-4739-BC49-1D1F95ED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Адаптер Туту</a:t>
            </a:r>
          </a:p>
        </p:txBody>
      </p:sp>
      <p:sp>
        <p:nvSpPr>
          <p:cNvPr id="19" name="arch-b-2">
            <a:extLst xmlns:a="http://schemas.openxmlformats.org/drawingml/2006/main">
              <a:ext uri="{FF2B5EF4-FFF2-40B4-BE49-F238E27FC236}">
                <a16:creationId xmlns:a16="http://schemas.microsoft.com/office/drawing/2014/main" id="{E3FAC0FB-0A31-47C9-9BCF-BB6CCDEC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43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Реальный транспорт и отели</a:t>
            </a:r>
          </a:p>
        </p:txBody>
      </p:sp>
      <p:sp>
        <p:nvSpPr>
          <p:cNvPr id="20" name="arch-h-3">
            <a:extLst xmlns:a="http://schemas.openxmlformats.org/drawingml/2006/main">
              <a:ext uri="{FF2B5EF4-FFF2-40B4-BE49-F238E27FC236}">
                <a16:creationId xmlns:a16="http://schemas.microsoft.com/office/drawing/2014/main" id="{982A9E75-0BFD-495A-B196-D1845B7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Решатель</a:t>
            </a:r>
          </a:p>
        </p:txBody>
      </p:sp>
      <p:sp>
        <p:nvSpPr>
          <p:cNvPr id="21" name="arch-b-3">
            <a:extLst xmlns:a="http://schemas.openxmlformats.org/drawingml/2006/main">
              <a:ext uri="{FF2B5EF4-FFF2-40B4-BE49-F238E27FC236}">
                <a16:creationId xmlns:a16="http://schemas.microsoft.com/office/drawing/2014/main" id="{731079F2-64D2-45FD-B809-A3CCE547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Фильтры + оценка</a:t>
            </a:r>
          </a:p>
        </p:txBody>
      </p:sp>
      <p:sp>
        <p:nvSpPr>
          <p:cNvPr id="22" name="arch-h-4">
            <a:extLst xmlns:a="http://schemas.openxmlformats.org/drawingml/2006/main">
              <a:ext uri="{FF2B5EF4-FFF2-40B4-BE49-F238E27FC236}">
                <a16:creationId xmlns:a16="http://schemas.microsoft.com/office/drawing/2014/main" id="{EC8BEB53-3475-4CC1-AE88-8FB2E7B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Проверяющий</a:t>
            </a:r>
          </a:p>
        </p:txBody>
      </p:sp>
      <p:sp>
        <p:nvSpPr>
          <p:cNvPr id="23" name="arch-b-4">
            <a:extLst xmlns:a="http://schemas.openxmlformats.org/drawingml/2006/main">
              <a:ext uri="{FF2B5EF4-FFF2-40B4-BE49-F238E27FC236}">
                <a16:creationId xmlns:a16="http://schemas.microsoft.com/office/drawing/2014/main" id="{77AB87E1-6C63-49DA-A918-45F0C95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43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Независимый вердикт</a:t>
            </a:r>
          </a:p>
        </p:txBody>
      </p:sp>
      <p:sp>
        <p:nvSpPr>
          <p:cNvPr id="24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8DBB4664-B0E2-4D51-B3BB-D42D7F95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ai-label">
            <a:extLst xmlns:a="http://schemas.openxmlformats.org/drawingml/2006/main">
              <a:ext uri="{FF2B5EF4-FFF2-40B4-BE49-F238E27FC236}">
                <a16:creationId xmlns:a16="http://schemas.microsoft.com/office/drawing/2014/main" id="{C3026B87-A0E0-4F68-A2FC-45AA415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НЕДОВЕРЕННАЯ ЗОНА</a:t>
            </a:r>
          </a:p>
        </p:txBody>
      </p:sp>
      <p:sp>
        <p:nvSpPr>
          <p:cNvPr id="26" name="arch-ai-copy">
            <a:extLst xmlns:a="http://schemas.openxmlformats.org/drawingml/2006/main">
              <a:ext uri="{FF2B5EF4-FFF2-40B4-BE49-F238E27FC236}">
                <a16:creationId xmlns:a16="http://schemas.microsoft.com/office/drawing/2014/main" id="{2F92C513-23FD-458F-8BC3-26F05858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291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2E"/>
                </a:solidFill>
                <a:latin typeface="Arial"/>
                <a:ea typeface="Arial"/>
                <a:cs typeface="Arial"/>
              </a:rPr>
              <a:t>Модель может ошибиться — поэтому её результат проходит схему и смысловые инварианты.</a:t>
            </a:r>
          </a:p>
        </p:txBody>
      </p:sp>
      <p:sp>
        <p:nvSpPr>
          <p:cNvPr id="27" name="arch-core-label">
            <a:extLst xmlns:a="http://schemas.openxmlformats.org/drawingml/2006/main">
              <a:ext uri="{FF2B5EF4-FFF2-40B4-BE49-F238E27FC236}">
                <a16:creationId xmlns:a16="http://schemas.microsoft.com/office/drawing/2014/main" id="{7EE3BDE0-12C0-4BF8-B7C1-C45DE70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05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ДЕТЕРМИНИРОВАННОЕ ЯДРО</a:t>
            </a:r>
          </a:p>
        </p:txBody>
      </p:sp>
      <p:sp>
        <p:nvSpPr>
          <p:cNvPr id="28" name="arch-core-copy">
            <a:extLst xmlns:a="http://schemas.openxmlformats.org/drawingml/2006/main">
              <a:ext uri="{FF2B5EF4-FFF2-40B4-BE49-F238E27FC236}">
                <a16:creationId xmlns:a16="http://schemas.microsoft.com/office/drawing/2014/main" id="{60CC4B33-1CBE-4C0D-92D3-8BF5CE45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291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2E"/>
                </a:solidFill>
                <a:latin typeface="Arial"/>
                <a:ea typeface="Arial"/>
                <a:cs typeface="Arial"/>
              </a:rPr>
              <a:t>Генерация кандидатов, ограничения, ранжирование и повторная проверка — чистый код.</a:t>
            </a:r>
          </a:p>
        </p:txBody>
      </p:sp>
      <p:sp>
        <p:nvSpPr>
          <p:cNvPr id="29" name="arch-footer">
            <a:extLst xmlns:a="http://schemas.openxmlformats.org/drawingml/2006/main">
              <a:ext uri="{FF2B5EF4-FFF2-40B4-BE49-F238E27FC236}">
                <a16:creationId xmlns:a16="http://schemas.microsoft.com/office/drawing/2014/main" id="{34675FE3-4FED-4836-9A21-176F1B7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340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F7085"/>
                </a:solidFill>
                <a:latin typeface="Arial"/>
                <a:ea typeface="Arial"/>
                <a:cs typeface="Arial"/>
              </a:rPr>
              <a:t>Сырые ответы МСР не попадают в бизнес-логику или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160516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7">
            <a:extLst xmlns:a="http://schemas.openxmlformats.org/drawingml/2006/main">
              <a:ext uri="{FF2B5EF4-FFF2-40B4-BE49-F238E27FC236}">
                <a16:creationId xmlns:a16="http://schemas.microsoft.com/office/drawing/2014/main" id="{E8E176C2-645D-4694-AABA-7E3CB9A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FADDFD96-989A-403E-9AC3-C4D8B07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3" name="kicker-7">
            <a:extLst xmlns:a="http://schemas.openxmlformats.org/drawingml/2006/main">
              <a:ext uri="{FF2B5EF4-FFF2-40B4-BE49-F238E27FC236}">
                <a16:creationId xmlns:a16="http://schemas.microsoft.com/office/drawing/2014/main" id="{273213AF-3B72-455B-BABF-26E58E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КАЧЕСТВО РЕАЛИЗАЦИИ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77B00069-92DC-466D-84A2-74D7D583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Стабильность проверяется до выхода на сцену</a:t>
            </a:r>
          </a:p>
        </p:txBody>
      </p:sp>
      <p:sp>
        <p:nvSpPr>
          <p:cNvPr id="5" name="metric-bg-0">
            <a:extLst xmlns:a="http://schemas.openxmlformats.org/drawingml/2006/main">
              <a:ext uri="{FF2B5EF4-FFF2-40B4-BE49-F238E27FC236}">
                <a16:creationId xmlns:a16="http://schemas.microsoft.com/office/drawing/2014/main" id="{19B283A5-3307-4BD7-B41D-ECB666F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n-0">
            <a:extLst xmlns:a="http://schemas.openxmlformats.org/drawingml/2006/main">
              <a:ext uri="{FF2B5EF4-FFF2-40B4-BE49-F238E27FC236}">
                <a16:creationId xmlns:a16="http://schemas.microsoft.com/office/drawing/2014/main" id="{92D1BB6B-8612-4B1F-9871-86F1297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E1591795-190A-4D8D-A69B-D8869AB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автоматических тестов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29083ABC-7241-4FD7-BAF2-20BB0A67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Решатель, проверяющий, контракты, сценарии и архитектурные границы</a:t>
            </a:r>
          </a:p>
        </p:txBody>
      </p:sp>
      <p:sp>
        <p:nvSpPr>
          <p:cNvPr id="9" name="metric-bg-1">
            <a:extLst xmlns:a="http://schemas.openxmlformats.org/drawingml/2006/main">
              <a:ext uri="{FF2B5EF4-FFF2-40B4-BE49-F238E27FC236}">
                <a16:creationId xmlns:a16="http://schemas.microsoft.com/office/drawing/2014/main" id="{DCBC4271-B628-442C-9519-5696E36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n-1">
            <a:extLst xmlns:a="http://schemas.openxmlformats.org/drawingml/2006/main">
              <a:ext uri="{FF2B5EF4-FFF2-40B4-BE49-F238E27FC236}">
                <a16:creationId xmlns:a16="http://schemas.microsoft.com/office/drawing/2014/main" id="{35E45A30-D2D2-4436-8647-9E1D155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4×</a:t>
            </a:r>
          </a:p>
        </p:txBody>
      </p:sp>
      <p:sp>
        <p:nvSpPr>
          <p:cNvPr id="11" name="metric-h-1">
            <a:extLst xmlns:a="http://schemas.openxmlformats.org/drawingml/2006/main">
              <a:ext uri="{FF2B5EF4-FFF2-40B4-BE49-F238E27FC236}">
                <a16:creationId xmlns:a16="http://schemas.microsoft.com/office/drawing/2014/main" id="{04B63F1F-E56E-449E-81D0-567AE25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повтор МСР-вызова</a:t>
            </a:r>
          </a:p>
        </p:txBody>
      </p:sp>
      <p:sp>
        <p:nvSpPr>
          <p:cNvPr id="12" name="metric-b-1">
            <a:extLst xmlns:a="http://schemas.openxmlformats.org/drawingml/2006/main">
              <a:ext uri="{FF2B5EF4-FFF2-40B4-BE49-F238E27FC236}">
                <a16:creationId xmlns:a16="http://schemas.microsoft.com/office/drawing/2014/main" id="{19F31DA4-4D14-46BE-8879-6F86029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0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Таймауты, экспоненциальная пауза и учёт временной недоступности</a:t>
            </a:r>
          </a:p>
        </p:txBody>
      </p:sp>
      <p:sp>
        <p:nvSpPr>
          <p:cNvPr id="13" name="metric-bg-2">
            <a:extLst xmlns:a="http://schemas.openxmlformats.org/drawingml/2006/main">
              <a:ext uri="{FF2B5EF4-FFF2-40B4-BE49-F238E27FC236}">
                <a16:creationId xmlns:a16="http://schemas.microsoft.com/office/drawing/2014/main" id="{3DE2437E-2F3D-4715-BC05-58E364C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n-2">
            <a:extLst xmlns:a="http://schemas.openxmlformats.org/drawingml/2006/main">
              <a:ext uri="{FF2B5EF4-FFF2-40B4-BE49-F238E27FC236}">
                <a16:creationId xmlns:a16="http://schemas.microsoft.com/office/drawing/2014/main" id="{20815FA9-5D00-4053-8B88-79C8F1F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metric-h-2">
            <a:extLst xmlns:a="http://schemas.openxmlformats.org/drawingml/2006/main">
              <a:ext uri="{FF2B5EF4-FFF2-40B4-BE49-F238E27FC236}">
                <a16:creationId xmlns:a16="http://schemas.microsoft.com/office/drawing/2014/main" id="{E4B4B498-10A6-428F-B6FA-6007035C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уровня валидации</a:t>
            </a:r>
          </a:p>
        </p:txBody>
      </p:sp>
      <p:sp>
        <p:nvSpPr>
          <p:cNvPr id="16" name="metric-b-2">
            <a:extLst xmlns:a="http://schemas.openxmlformats.org/drawingml/2006/main">
              <a:ext uri="{FF2B5EF4-FFF2-40B4-BE49-F238E27FC236}">
                <a16:creationId xmlns:a16="http://schemas.microsoft.com/office/drawing/2014/main" id="{C100916C-C8E3-4DB1-BC73-BC883F3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Схемы данных плюс смысловые инварианты перед выдачей результата</a:t>
            </a:r>
          </a:p>
        </p:txBody>
      </p:sp>
      <p:sp>
        <p:nvSpPr>
          <p:cNvPr id="17" name="metric-bg-3">
            <a:extLst xmlns:a="http://schemas.openxmlformats.org/drawingml/2006/main">
              <a:ext uri="{FF2B5EF4-FFF2-40B4-BE49-F238E27FC236}">
                <a16:creationId xmlns:a16="http://schemas.microsoft.com/office/drawing/2014/main" id="{4F856A31-52D0-43F6-9AC8-84BB3694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n-3">
            <a:extLst xmlns:a="http://schemas.openxmlformats.org/drawingml/2006/main">
              <a:ext uri="{FF2B5EF4-FFF2-40B4-BE49-F238E27FC236}">
                <a16:creationId xmlns:a16="http://schemas.microsoft.com/office/drawing/2014/main" id="{F2BE95B8-75EC-4E08-B239-825E312A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metric-h-3">
            <a:extLst xmlns:a="http://schemas.openxmlformats.org/drawingml/2006/main">
              <a:ext uri="{FF2B5EF4-FFF2-40B4-BE49-F238E27FC236}">
                <a16:creationId xmlns:a16="http://schemas.microsoft.com/office/drawing/2014/main" id="{419D3296-7AF8-42A4-BFBF-095B7C9F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выдуманных маршрутов</a:t>
            </a:r>
          </a:p>
        </p:txBody>
      </p:sp>
      <p:sp>
        <p:nvSpPr>
          <p:cNvPr id="20" name="metric-b-3">
            <a:extLst xmlns:a="http://schemas.openxmlformats.org/drawingml/2006/main">
              <a:ext uri="{FF2B5EF4-FFF2-40B4-BE49-F238E27FC236}">
                <a16:creationId xmlns:a16="http://schemas.microsoft.com/office/drawing/2014/main" id="{F5A64683-5975-4235-B952-DDBF3B5F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624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5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Только нормализованные предложения и ссылки из текущего ответа Туту</a:t>
            </a:r>
          </a:p>
        </p:txBody>
      </p:sp>
      <p:sp>
        <p:nvSpPr>
          <p:cNvPr id="21" name="quality-foot">
            <a:extLst xmlns:a="http://schemas.openxmlformats.org/drawingml/2006/main">
              <a:ext uri="{FF2B5EF4-FFF2-40B4-BE49-F238E27FC236}">
                <a16:creationId xmlns:a16="http://schemas.microsoft.com/office/drawing/2014/main" id="{CD54EB38-725B-47E1-AE0B-9BF27EC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Строгая типизация · схемы времени выполнения · отмена устаревших запросов · кэш успешных данных · промышленная сборка</a:t>
            </a:r>
          </a:p>
        </p:txBody>
      </p:sp>
    </p:spTree>
    <p:extLst>
      <p:ext uri="{BB962C8B-B14F-4D97-AF65-F5344CB8AC3E}">
        <p14:creationId xmlns:p14="http://schemas.microsoft.com/office/powerpoint/2010/main" val="1746167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8">
            <a:extLst xmlns:a="http://schemas.openxmlformats.org/drawingml/2006/main">
              <a:ext uri="{FF2B5EF4-FFF2-40B4-BE49-F238E27FC236}">
                <a16:creationId xmlns:a16="http://schemas.microsoft.com/office/drawing/2014/main" id="{DF922E7A-A28C-4489-9AC2-BFA7EF5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A37A9AE8-7814-4F9F-9F97-21D8B7E4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kicker-8">
            <a:extLst xmlns:a="http://schemas.openxmlformats.org/drawingml/2006/main">
              <a:ext uri="{FF2B5EF4-FFF2-40B4-BE49-F238E27FC236}">
                <a16:creationId xmlns:a16="http://schemas.microsoft.com/office/drawing/2014/main" id="{4E92AA28-3179-4B46-8D6F-0547FD30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0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КАРТА КРИТЕРИЕВ · 100 БАЛЛОВ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9CBE6936-0DA6-4B6F-AA73-CBE694A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Каждый балл имеет видимое доказательство</a:t>
            </a:r>
          </a:p>
        </p:txBody>
      </p:sp>
      <p:sp>
        <p:nvSpPr>
          <p:cNvPr id="5" name="rubric-n-0">
            <a:extLst xmlns:a="http://schemas.openxmlformats.org/drawingml/2006/main">
              <a:ext uri="{FF2B5EF4-FFF2-40B4-BE49-F238E27FC236}">
                <a16:creationId xmlns:a16="http://schemas.microsoft.com/office/drawing/2014/main" id="{E9684979-40B1-4150-A287-B5DF8F11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3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rubric-h-0">
            <a:extLst xmlns:a="http://schemas.openxmlformats.org/drawingml/2006/main">
              <a:ext uri="{FF2B5EF4-FFF2-40B4-BE49-F238E27FC236}">
                <a16:creationId xmlns:a16="http://schemas.microsoft.com/office/drawing/2014/main" id="{05FDF102-4669-4C1B-ABE4-214486F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574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7" name="rubric-rule-0">
            <a:extLst xmlns:a="http://schemas.openxmlformats.org/drawingml/2006/main">
              <a:ext uri="{FF2B5EF4-FFF2-40B4-BE49-F238E27FC236}">
                <a16:creationId xmlns:a16="http://schemas.microsoft.com/office/drawing/2014/main" id="{9EFD9F96-7169-496F-B27C-0207B0C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bric-c-0">
            <a:extLst xmlns:a="http://schemas.openxmlformats.org/drawingml/2006/main">
              <a:ext uri="{FF2B5EF4-FFF2-40B4-BE49-F238E27FC236}">
                <a16:creationId xmlns:a16="http://schemas.microsoft.com/office/drawing/2014/main" id="{8D8C120B-EAE0-49F6-AF6B-7A318D21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Понимание задачи · 10</a:t>
            </a:r>
          </a:p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Глубина функционала · 15</a:t>
            </a:r>
          </a:p>
        </p:txBody>
      </p:sp>
      <p:sp>
        <p:nvSpPr>
          <p:cNvPr id="9" name="rubric-e-0">
            <a:extLst xmlns:a="http://schemas.openxmlformats.org/drawingml/2006/main">
              <a:ext uri="{FF2B5EF4-FFF2-40B4-BE49-F238E27FC236}">
                <a16:creationId xmlns:a16="http://schemas.microsoft.com/office/drawing/2014/main" id="{89E6993F-647B-4499-9EFF-588B1ABD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0055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Цель вместо билета</a:t>
            </a:r>
          </a:p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Решатель + невозможная миссия</a:t>
            </a:r>
          </a:p>
        </p:txBody>
      </p:sp>
      <p:sp>
        <p:nvSpPr>
          <p:cNvPr id="10" name="rubric-n-1">
            <a:extLst xmlns:a="http://schemas.openxmlformats.org/drawingml/2006/main">
              <a:ext uri="{FF2B5EF4-FFF2-40B4-BE49-F238E27FC236}">
                <a16:creationId xmlns:a16="http://schemas.microsoft.com/office/drawing/2014/main" id="{F849B409-3550-4877-80FD-BB3AA58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43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1" name="rubric-h-1">
            <a:extLst xmlns:a="http://schemas.openxmlformats.org/drawingml/2006/main">
              <a:ext uri="{FF2B5EF4-FFF2-40B4-BE49-F238E27FC236}">
                <a16:creationId xmlns:a16="http://schemas.microsoft.com/office/drawing/2014/main" id="{1A0472E4-8DB7-4FE5-8943-15EFE0C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574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Опыт</a:t>
            </a:r>
          </a:p>
        </p:txBody>
      </p:sp>
      <p:sp>
        <p:nvSpPr>
          <p:cNvPr id="12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35A3583B-D895-42F8-A6BA-2F4C6A2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bric-c-1">
            <a:extLst xmlns:a="http://schemas.openxmlformats.org/drawingml/2006/main">
              <a:ext uri="{FF2B5EF4-FFF2-40B4-BE49-F238E27FC236}">
                <a16:creationId xmlns:a16="http://schemas.microsoft.com/office/drawing/2014/main" id="{30117617-E331-4412-95AD-E88D0F28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Интерфейс · 20</a:t>
            </a:r>
          </a:p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Презентация · 5</a:t>
            </a:r>
          </a:p>
        </p:txBody>
      </p:sp>
      <p:sp>
        <p:nvSpPr>
          <p:cNvPr id="14" name="rubric-e-1">
            <a:extLst xmlns:a="http://schemas.openxmlformats.org/drawingml/2006/main">
              <a:ext uri="{FF2B5EF4-FFF2-40B4-BE49-F238E27FC236}">
                <a16:creationId xmlns:a16="http://schemas.microsoft.com/office/drawing/2014/main" id="{AD6E2905-4C85-4DEF-BBAB-D6FB19BF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Один главный результат</a:t>
            </a:r>
          </a:p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Честный процесс решения</a:t>
            </a:r>
          </a:p>
        </p:txBody>
      </p:sp>
      <p:sp>
        <p:nvSpPr>
          <p:cNvPr id="15" name="rubric-n-2">
            <a:extLst xmlns:a="http://schemas.openxmlformats.org/drawingml/2006/main">
              <a:ext uri="{FF2B5EF4-FFF2-40B4-BE49-F238E27FC236}">
                <a16:creationId xmlns:a16="http://schemas.microsoft.com/office/drawing/2014/main" id="{43778157-89D5-4940-81E3-6A1A9C73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C5CE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" name="rubric-h-2">
            <a:extLst xmlns:a="http://schemas.openxmlformats.org/drawingml/2006/main">
              <a:ext uri="{FF2B5EF4-FFF2-40B4-BE49-F238E27FC236}">
                <a16:creationId xmlns:a16="http://schemas.microsoft.com/office/drawing/2014/main" id="{FC490E6B-305F-486D-A88A-70A1438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574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17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3B6BEC9C-2735-45D8-8024-7C83920B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bric-c-2">
            <a:extLst xmlns:a="http://schemas.openxmlformats.org/drawingml/2006/main">
              <a:ext uri="{FF2B5EF4-FFF2-40B4-BE49-F238E27FC236}">
                <a16:creationId xmlns:a16="http://schemas.microsoft.com/office/drawing/2014/main" id="{F5151F36-0219-4060-A7EB-CE13BED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Документация · 10</a:t>
            </a:r>
          </a:p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Стабильность · 10</a:t>
            </a:r>
          </a:p>
        </p:txBody>
      </p:sp>
      <p:sp>
        <p:nvSpPr>
          <p:cNvPr id="19" name="rubric-e-2">
            <a:extLst xmlns:a="http://schemas.openxmlformats.org/drawingml/2006/main">
              <a:ext uri="{FF2B5EF4-FFF2-40B4-BE49-F238E27FC236}">
                <a16:creationId xmlns:a16="http://schemas.microsoft.com/office/drawing/2014/main" id="{98D75EDC-444F-4BFE-B8EA-47A84B20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Руководство + схема запуска</a:t>
            </a:r>
          </a:p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Ошибки без выдуманных данных</a:t>
            </a:r>
          </a:p>
        </p:txBody>
      </p:sp>
      <p:sp>
        <p:nvSpPr>
          <p:cNvPr id="20" name="rubric-n-3">
            <a:extLst xmlns:a="http://schemas.openxmlformats.org/drawingml/2006/main">
              <a:ext uri="{FF2B5EF4-FFF2-40B4-BE49-F238E27FC236}">
                <a16:creationId xmlns:a16="http://schemas.microsoft.com/office/drawing/2014/main" id="{04EBFA47-2F05-4C49-B640-0584065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977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977E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1" name="rubric-h-3">
            <a:extLst xmlns:a="http://schemas.openxmlformats.org/drawingml/2006/main">
              <a:ext uri="{FF2B5EF4-FFF2-40B4-BE49-F238E27FC236}">
                <a16:creationId xmlns:a16="http://schemas.microsoft.com/office/drawing/2014/main" id="{686365C9-BA7A-42C8-AA78-2A711433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574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Технологии</a:t>
            </a:r>
          </a:p>
        </p:txBody>
      </p:sp>
      <p:sp>
        <p:nvSpPr>
          <p:cNvPr id="22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BED51F2C-A5DE-4B20-A4FA-C2903F0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ubric-c-3">
            <a:extLst xmlns:a="http://schemas.openxmlformats.org/drawingml/2006/main">
              <a:ext uri="{FF2B5EF4-FFF2-40B4-BE49-F238E27FC236}">
                <a16:creationId xmlns:a16="http://schemas.microsoft.com/office/drawing/2014/main" id="{A19D602F-CCDA-430C-9351-E9F3406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Инновационность · 10</a:t>
            </a:r>
          </a:p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Архитектура · 10</a:t>
            </a:r>
          </a:p>
          <a:p xmlns:a="http://schemas.openxmlformats.org/drawingml/2006/main">
            <a:pPr algn="l">
              <a:defRPr sz="1575" b="1">
                <a:solidFill>
                  <a:srgbClr val="1717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2E"/>
                </a:solidFill>
                <a:latin typeface="Arial"/>
                <a:ea typeface="Arial"/>
                <a:cs typeface="Arial"/>
              </a:rPr>
              <a:t>Качество кода · 10</a:t>
            </a:r>
          </a:p>
        </p:txBody>
      </p:sp>
      <p:sp>
        <p:nvSpPr>
          <p:cNvPr id="24" name="rubric-e-3">
            <a:extLst xmlns:a="http://schemas.openxmlformats.org/drawingml/2006/main">
              <a:ext uri="{FF2B5EF4-FFF2-40B4-BE49-F238E27FC236}">
                <a16:creationId xmlns:a16="http://schemas.microsoft.com/office/drawing/2014/main" id="{35932202-C417-4FDC-90CC-5807E478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МСР + решатель + проверка</a:t>
            </a:r>
          </a:p>
          <a:p xmlns:a="http://schemas.openxmlformats.org/drawingml/2006/main">
            <a:pPr algn="l">
              <a:defRPr sz="1575" b="0">
                <a:solidFill>
                  <a:srgbClr val="6F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7085"/>
                </a:solidFill>
                <a:latin typeface="Arial"/>
                <a:ea typeface="Arial"/>
                <a:cs typeface="Arial"/>
              </a:rPr>
              <a:t>70 тестов и чистые границы</a:t>
            </a:r>
          </a:p>
        </p:txBody>
      </p:sp>
      <p:sp>
        <p:nvSpPr>
          <p:cNvPr id="25" name="rubric-highlight">
            <a:extLst xmlns:a="http://schemas.openxmlformats.org/drawingml/2006/main">
              <a:ext uri="{FF2B5EF4-FFF2-40B4-BE49-F238E27FC236}">
                <a16:creationId xmlns:a16="http://schemas.microsoft.com/office/drawing/2014/main" id="{B0C24176-0B3A-43F0-B4AD-7D9B22C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1353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bric-highlight-text">
            <a:extLst xmlns:a="http://schemas.openxmlformats.org/drawingml/2006/main">
              <a:ext uri="{FF2B5EF4-FFF2-40B4-BE49-F238E27FC236}">
                <a16:creationId xmlns:a16="http://schemas.microsoft.com/office/drawing/2014/main" id="{463369A4-3468-4F7A-AAE6-BE5E9CE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78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Жюри увидит не обещания, а работающий вертикальный срез: запрос → Туту → решение → проверка → объяснение.</a:t>
            </a:r>
          </a:p>
        </p:txBody>
      </p:sp>
    </p:spTree>
    <p:extLst>
      <p:ext uri="{BB962C8B-B14F-4D97-AF65-F5344CB8AC3E}">
        <p14:creationId xmlns:p14="http://schemas.microsoft.com/office/powerpoint/2010/main" val="1381707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720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9">
            <a:extLst xmlns:a="http://schemas.openxmlformats.org/drawingml/2006/main">
              <a:ext uri="{FF2B5EF4-FFF2-40B4-BE49-F238E27FC236}">
                <a16:creationId xmlns:a16="http://schemas.microsoft.com/office/drawing/2014/main" id="{3DE520E5-47E5-42B3-8023-BEF531F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туту  миссия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CD54543C-1DF1-48DB-8457-E7DFFA5D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9C5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C5F4"/>
                </a:solidFill>
                <a:latin typeface="Arial"/>
                <a:ea typeface="Arial"/>
                <a:cs typeface="Arial"/>
              </a:rPr>
              <a:t>09 / 09</a:t>
            </a:r>
          </a:p>
        </p:txBody>
      </p:sp>
      <p:sp>
        <p:nvSpPr>
          <p:cNvPr id="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A3EC42D-E2A7-4A9C-A01B-B470F24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B5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B5FF"/>
                </a:solidFill>
                <a:latin typeface="Arial"/>
                <a:ea typeface="Arial"/>
                <a:cs typeface="Arial"/>
              </a:rPr>
              <a:t>ТУТУ МИССИЯ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514E534-2D3A-4DB6-9A9B-DFD25D0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781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запрос.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план.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Доказано выполним.</a:t>
            </a:r>
          </a:p>
        </p:txBody>
      </p:sp>
      <p:sp>
        <p:nvSpPr>
          <p:cNvPr id="5" name="close-copy">
            <a:extLst xmlns:a="http://schemas.openxmlformats.org/drawingml/2006/main">
              <a:ext uri="{FF2B5EF4-FFF2-40B4-BE49-F238E27FC236}">
                <a16:creationId xmlns:a16="http://schemas.microsoft.com/office/drawing/2014/main" id="{C7663A32-4C86-4185-811A-7306DDE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Пользователь ставит задачу путешествия. Туту Миссия берёт на себя поиск, выбор и проверку результата.</a:t>
            </a:r>
          </a:p>
        </p:txBody>
      </p:sp>
      <p:sp>
        <p:nvSpPr>
          <p:cNvPr id="6" name="close-demo-bg">
            <a:extLst xmlns:a="http://schemas.openxmlformats.org/drawingml/2006/main">
              <a:ext uri="{FF2B5EF4-FFF2-40B4-BE49-F238E27FC236}">
                <a16:creationId xmlns:a16="http://schemas.microsoft.com/office/drawing/2014/main" id="{1413D061-AD07-4932-BEA3-61E1E407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demo">
            <a:extLst xmlns:a="http://schemas.openxmlformats.org/drawingml/2006/main">
              <a:ext uri="{FF2B5EF4-FFF2-40B4-BE49-F238E27FC236}">
                <a16:creationId xmlns:a16="http://schemas.microsoft.com/office/drawing/2014/main" id="{4F98CF62-0560-421A-9E65-B6BFB41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2770f1c52be645a3"/>
              </a:rPr>
              <a:t>Открыть демо  ↗</a:t>
            </a:r>
          </a:p>
        </p:txBody>
      </p:sp>
      <p:sp>
        <p:nvSpPr>
          <p:cNvPr id="8" name="close-mcp-bg">
            <a:extLst xmlns:a="http://schemas.openxmlformats.org/drawingml/2006/main">
              <a:ext uri="{FF2B5EF4-FFF2-40B4-BE49-F238E27FC236}">
                <a16:creationId xmlns:a16="http://schemas.microsoft.com/office/drawing/2014/main" id="{A5F843A6-53CC-4212-8726-1AB04AE2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1432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mcp">
            <a:extLst xmlns:a="http://schemas.openxmlformats.org/drawingml/2006/main">
              <a:ext uri="{FF2B5EF4-FFF2-40B4-BE49-F238E27FC236}">
                <a16:creationId xmlns:a16="http://schemas.microsoft.com/office/drawing/2014/main" id="{A115FF8B-8020-4192-B932-8C7E9F5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0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205D"/>
                </a:solidFill>
                <a:latin typeface="Arial"/>
                <a:ea typeface="Arial"/>
                <a:cs typeface="Arial"/>
                <a:hlinkClick xmlns:r="http://schemas.openxmlformats.org/officeDocument/2006/relationships" r:id="Rf7c5c35d48734fea"/>
              </a:rPr>
              <a:t>Документация МСР Туту  ↗</a:t>
            </a:r>
          </a:p>
        </p:txBody>
      </p:sp>
      <p:sp>
        <p:nvSpPr>
          <p:cNvPr id="10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70AC8418-9CAC-4080-A1D1-D2F08E0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проверить любую миссию жюри</a:t>
            </a:r>
          </a:p>
        </p:txBody>
      </p:sp>
      <p:sp>
        <p:nvSpPr>
          <p:cNvPr id="11" name="close-dot">
            <a:extLst xmlns:a="http://schemas.openxmlformats.org/drawingml/2006/main">
              <a:ext uri="{FF2B5EF4-FFF2-40B4-BE49-F238E27FC236}">
                <a16:creationId xmlns:a16="http://schemas.microsoft.com/office/drawing/2014/main" id="{6FEDD78F-FF31-42A5-B51D-7ECD663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054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7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live">
            <a:extLst xmlns:a="http://schemas.openxmlformats.org/drawingml/2006/main">
              <a:ext uri="{FF2B5EF4-FFF2-40B4-BE49-F238E27FC236}">
                <a16:creationId xmlns:a16="http://schemas.microsoft.com/office/drawing/2014/main" id="{81FC960A-B65C-4E86-9769-D3D150C4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57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1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1FF"/>
                </a:solidFill>
                <a:latin typeface="Arial"/>
                <a:ea typeface="Arial"/>
                <a:cs typeface="Arial"/>
              </a:rPr>
              <a:t>актуальные данные Туту</a:t>
            </a:r>
          </a:p>
        </p:txBody>
      </p:sp>
    </p:spTree>
    <p:extLst>
      <p:ext uri="{BB962C8B-B14F-4D97-AF65-F5344CB8AC3E}">
        <p14:creationId xmlns:p14="http://schemas.microsoft.com/office/powerpoint/2010/main" val="691316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2026-08-14T10:13:57.1290000Z</dcterms:created>
  <dcterms:modified xsi:type="dcterms:W3CDTF">2026-08-14T10:13:57.1290000Z</dcterms:modified>
</coreProperties>
</file>